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aleway Bold" charset="1" panose="020B0803030101060003"/>
      <p:regular r:id="rId12"/>
    </p:embeddedFont>
    <p:embeddedFont>
      <p:font typeface="Raleway" charset="1" panose="020B0503030101060003"/>
      <p:regular r:id="rId13"/>
    </p:embeddedFont>
    <p:embeddedFont>
      <p:font typeface="Canva Sans" charset="1" panose="020B0503030501040103"/>
      <p:regular r:id="rId14"/>
    </p:embeddedFont>
    <p:embeddedFont>
      <p:font typeface="Radley" charset="1" panose="00000500000000000000"/>
      <p:regular r:id="rId15"/>
    </p:embeddedFont>
    <p:embeddedFont>
      <p:font typeface="DM Sans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DE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0784" y="0"/>
            <a:ext cx="1547216" cy="10287000"/>
            <a:chOff x="0" y="0"/>
            <a:chExt cx="523379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3479800"/>
            </a:xfrm>
            <a:custGeom>
              <a:avLst/>
              <a:gdLst/>
              <a:ahLst/>
              <a:cxnLst/>
              <a:rect r="r" b="b" t="t" l="l"/>
              <a:pathLst>
                <a:path h="3479800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13363" y="1923797"/>
            <a:ext cx="12122795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Project Title:</a:t>
            </a:r>
            <a:r>
              <a:rPr lang="en-US" b="true" sz="36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  Hotel Booking System (Java Swing + OOP)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3363" y="3374699"/>
            <a:ext cx="14460599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 Statement: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                                     </a:t>
            </a: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Manual hotel booking systems are inefficient and error-prone. This project automates room booking, customer management, and data storage.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3363" y="6234421"/>
            <a:ext cx="8542065" cy="296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Target User:</a:t>
            </a:r>
          </a:p>
          <a:p>
            <a:pPr algn="l">
              <a:lnSpc>
                <a:spcPts val="5040"/>
              </a:lnSpc>
            </a:pP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Hotel staff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Managers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Small hotel/lodge administrators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19211" y="240664"/>
            <a:ext cx="2836218" cy="78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Title page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0784" y="0"/>
            <a:ext cx="1547216" cy="10287000"/>
            <a:chOff x="0" y="0"/>
            <a:chExt cx="523379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3479800"/>
            </a:xfrm>
            <a:custGeom>
              <a:avLst/>
              <a:gdLst/>
              <a:ahLst/>
              <a:cxnLst/>
              <a:rect r="r" b="b" t="t" l="l"/>
              <a:pathLst>
                <a:path h="3479800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28550" y="2252695"/>
            <a:ext cx="7910056" cy="5052548"/>
          </a:xfrm>
          <a:custGeom>
            <a:avLst/>
            <a:gdLst/>
            <a:ahLst/>
            <a:cxnLst/>
            <a:rect r="r" b="b" t="t" l="l"/>
            <a:pathLst>
              <a:path h="5052548" w="7910056">
                <a:moveTo>
                  <a:pt x="0" y="0"/>
                </a:moveTo>
                <a:lnTo>
                  <a:pt x="7910056" y="0"/>
                </a:lnTo>
                <a:lnTo>
                  <a:pt x="7910056" y="5052548"/>
                </a:lnTo>
                <a:lnTo>
                  <a:pt x="0" y="5052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57040" y="1518023"/>
            <a:ext cx="6269166" cy="226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High-Level Architecture</a:t>
            </a:r>
            <a:r>
              <a:rPr lang="en-US" b="true" sz="29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: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Follows MVC structure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Model → Room, Customer, Booking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Service → HotelService, FileService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View → HotelGUI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7040" y="4276606"/>
            <a:ext cx="7381835" cy="270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Key Classes &amp; Responsibilities: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Room → stores room details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Customer → stores customer info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Booking → links room + customer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HotelService → core logic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SaveThread → background saving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1744" y="7354800"/>
            <a:ext cx="7066806" cy="226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Package Structure</a:t>
            </a:r>
            <a:r>
              <a:rPr lang="en-US" b="true" sz="29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: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Main → entry point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Model → data classes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Service → business logic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View → GUI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73408" y="236448"/>
            <a:ext cx="4414391" cy="78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true" sz="4599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System Design</a:t>
            </a:r>
            <a:r>
              <a:rPr lang="en-US" b="true" sz="45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0784" y="0"/>
            <a:ext cx="1547216" cy="10287000"/>
            <a:chOff x="0" y="0"/>
            <a:chExt cx="523379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3479800"/>
            </a:xfrm>
            <a:custGeom>
              <a:avLst/>
              <a:gdLst/>
              <a:ahLst/>
              <a:cxnLst/>
              <a:rect r="r" b="b" t="t" l="l"/>
              <a:pathLst>
                <a:path h="3479800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32035" y="1679676"/>
            <a:ext cx="10894665" cy="822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554" indent="-273777" lvl="1">
              <a:lnSpc>
                <a:spcPts val="3550"/>
              </a:lnSpc>
              <a:buFont typeface="Arial"/>
              <a:buChar char="•"/>
            </a:pPr>
            <a:r>
              <a:rPr lang="en-US" b="true" sz="2536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Abstraction: </a:t>
            </a:r>
          </a:p>
          <a:p>
            <a:pPr algn="l">
              <a:lnSpc>
                <a:spcPts val="3550"/>
              </a:lnSpc>
              <a:spcBef>
                <a:spcPct val="0"/>
              </a:spcBef>
            </a:pPr>
            <a:r>
              <a:rPr lang="en-US" b="true" sz="253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        - </a:t>
            </a:r>
            <a:r>
              <a:rPr lang="en-US" sz="253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HotelService class</a:t>
            </a:r>
          </a:p>
          <a:p>
            <a:pPr algn="l">
              <a:lnSpc>
                <a:spcPts val="3550"/>
              </a:lnSpc>
              <a:spcBef>
                <a:spcPct val="0"/>
              </a:spcBef>
            </a:pPr>
            <a:r>
              <a:rPr lang="en-US" sz="253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       -Methods like bookRoom(), addRoom() hide internal logic</a:t>
            </a:r>
          </a:p>
          <a:p>
            <a:pPr algn="l" marL="547554" indent="-273777" lvl="1">
              <a:lnSpc>
                <a:spcPts val="3550"/>
              </a:lnSpc>
              <a:buFont typeface="Arial"/>
              <a:buChar char="•"/>
            </a:pPr>
            <a:r>
              <a:rPr lang="en-US" b="true" sz="2536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Inheritance:</a:t>
            </a:r>
          </a:p>
          <a:p>
            <a:pPr algn="l">
              <a:lnSpc>
                <a:spcPts val="3016"/>
              </a:lnSpc>
              <a:spcBef>
                <a:spcPct val="0"/>
              </a:spcBef>
            </a:pPr>
            <a:r>
              <a:rPr lang="en-US" b="true" sz="21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         - </a:t>
            </a: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SaveThread class </a:t>
            </a:r>
          </a:p>
          <a:p>
            <a:pPr algn="l">
              <a:lnSpc>
                <a:spcPts val="3016"/>
              </a:lnSpc>
              <a:spcBef>
                <a:spcPct val="0"/>
              </a:spcBef>
            </a:pP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        -</a:t>
            </a: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Extends Thread class</a:t>
            </a:r>
          </a:p>
          <a:p>
            <a:pPr algn="l" marL="547554" indent="-273777" lvl="1">
              <a:lnSpc>
                <a:spcPts val="3550"/>
              </a:lnSpc>
              <a:buFont typeface="Arial"/>
              <a:buChar char="•"/>
            </a:pPr>
            <a:r>
              <a:rPr lang="en-US" b="true" sz="2536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Polymorphism:</a:t>
            </a:r>
          </a:p>
          <a:p>
            <a:pPr algn="l">
              <a:lnSpc>
                <a:spcPts val="3016"/>
              </a:lnSpc>
              <a:spcBef>
                <a:spcPct val="0"/>
              </a:spcBef>
            </a:pPr>
            <a:r>
              <a:rPr lang="en-US" b="true" sz="21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 </a:t>
            </a:r>
            <a:r>
              <a:rPr lang="en-US" b="true" sz="21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       - </a:t>
            </a: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display() method in Room class</a:t>
            </a:r>
          </a:p>
          <a:p>
            <a:pPr algn="l">
              <a:lnSpc>
                <a:spcPts val="3016"/>
              </a:lnSpc>
              <a:spcBef>
                <a:spcPct val="0"/>
              </a:spcBef>
            </a:pP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        -Can be overridden for different room types</a:t>
            </a:r>
          </a:p>
          <a:p>
            <a:pPr algn="l" marL="547554" indent="-273777" lvl="1">
              <a:lnSpc>
                <a:spcPts val="3550"/>
              </a:lnSpc>
              <a:buFont typeface="Arial"/>
              <a:buChar char="•"/>
            </a:pPr>
            <a:r>
              <a:rPr lang="en-US" b="true" sz="2536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Exception handling:</a:t>
            </a:r>
          </a:p>
          <a:p>
            <a:pPr algn="l">
              <a:lnSpc>
                <a:spcPts val="3016"/>
              </a:lnSpc>
              <a:spcBef>
                <a:spcPct val="0"/>
              </a:spcBef>
            </a:pPr>
            <a:r>
              <a:rPr lang="en-US" b="true" sz="21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             - </a:t>
            </a: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FileService class, </a:t>
            </a:r>
          </a:p>
          <a:p>
            <a:pPr algn="l">
              <a:lnSpc>
                <a:spcPts val="3016"/>
              </a:lnSpc>
              <a:spcBef>
                <a:spcPct val="0"/>
              </a:spcBef>
            </a:pP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            -</a:t>
            </a: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Used in file operations with try-catch</a:t>
            </a:r>
          </a:p>
          <a:p>
            <a:pPr algn="l" marL="551486" indent="-275743" lvl="1">
              <a:lnSpc>
                <a:spcPts val="3576"/>
              </a:lnSpc>
              <a:buFont typeface="Arial"/>
              <a:buChar char="•"/>
            </a:pPr>
            <a:r>
              <a:rPr lang="en-US" sz="2554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b="true" sz="2554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Multithreading:</a:t>
            </a:r>
          </a:p>
          <a:p>
            <a:pPr algn="l">
              <a:lnSpc>
                <a:spcPts val="3016"/>
              </a:lnSpc>
              <a:spcBef>
                <a:spcPct val="0"/>
              </a:spcBef>
            </a:pP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         -</a:t>
            </a: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SaveThread class</a:t>
            </a:r>
          </a:p>
          <a:p>
            <a:pPr algn="l">
              <a:lnSpc>
                <a:spcPts val="3016"/>
              </a:lnSpc>
              <a:spcBef>
                <a:spcPct val="0"/>
              </a:spcBef>
            </a:pP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         -Runs background saving process</a:t>
            </a:r>
          </a:p>
          <a:p>
            <a:pPr algn="l" marL="551486" indent="-275743" lvl="1">
              <a:lnSpc>
                <a:spcPts val="3576"/>
              </a:lnSpc>
              <a:buFont typeface="Arial"/>
              <a:buChar char="•"/>
            </a:pPr>
            <a:r>
              <a:rPr lang="en-US" b="true" sz="2554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Collections</a:t>
            </a:r>
            <a:r>
              <a:rPr lang="en-US" b="true" sz="25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:</a:t>
            </a:r>
          </a:p>
          <a:p>
            <a:pPr algn="l">
              <a:lnSpc>
                <a:spcPts val="3016"/>
              </a:lnSpc>
              <a:spcBef>
                <a:spcPct val="0"/>
              </a:spcBef>
            </a:pP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         -</a:t>
            </a: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ArrayList in HotelService</a:t>
            </a:r>
          </a:p>
          <a:p>
            <a:pPr algn="l">
              <a:lnSpc>
                <a:spcPts val="3016"/>
              </a:lnSpc>
              <a:spcBef>
                <a:spcPct val="0"/>
              </a:spcBef>
            </a:pP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         -Stores rooms and bookings</a:t>
            </a:r>
          </a:p>
          <a:p>
            <a:pPr algn="l" marL="547554" indent="-273777" lvl="1">
              <a:lnSpc>
                <a:spcPts val="3550"/>
              </a:lnSpc>
              <a:buFont typeface="Arial"/>
              <a:buChar char="•"/>
            </a:pPr>
            <a:r>
              <a:rPr lang="en-US" b="true" sz="2536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Design Pattern:</a:t>
            </a:r>
          </a:p>
          <a:p>
            <a:pPr algn="l">
              <a:lnSpc>
                <a:spcPts val="3016"/>
              </a:lnSpc>
              <a:spcBef>
                <a:spcPct val="0"/>
              </a:spcBef>
            </a:pPr>
            <a:r>
              <a:rPr lang="en-US" b="true" sz="21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              - </a:t>
            </a:r>
            <a:r>
              <a:rPr lang="en-US" sz="21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Follows MVC (Model-View-Controller)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990341" y="3686954"/>
            <a:ext cx="8053030" cy="4992879"/>
          </a:xfrm>
          <a:custGeom>
            <a:avLst/>
            <a:gdLst/>
            <a:ahLst/>
            <a:cxnLst/>
            <a:rect r="r" b="b" t="t" l="l"/>
            <a:pathLst>
              <a:path h="4992879" w="8053030">
                <a:moveTo>
                  <a:pt x="0" y="0"/>
                </a:moveTo>
                <a:lnTo>
                  <a:pt x="8053030" y="0"/>
                </a:lnTo>
                <a:lnTo>
                  <a:pt x="8053030" y="4992878"/>
                </a:lnTo>
                <a:lnTo>
                  <a:pt x="0" y="499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94350" y="129537"/>
            <a:ext cx="5624959" cy="78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OOP Concepts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DE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0784" y="0"/>
            <a:ext cx="1547216" cy="10287000"/>
            <a:chOff x="0" y="0"/>
            <a:chExt cx="523379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3479800"/>
            </a:xfrm>
            <a:custGeom>
              <a:avLst/>
              <a:gdLst/>
              <a:ahLst/>
              <a:cxnLst/>
              <a:rect r="r" b="b" t="t" l="l"/>
              <a:pathLst>
                <a:path h="3479800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2676" y="386715"/>
            <a:ext cx="6279839" cy="78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Technical Highlight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9248" y="2367861"/>
            <a:ext cx="14281564" cy="640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Design Decision: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                          -</a:t>
            </a: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Using multithreading for background saving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Code Logic: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Booking triggers a thread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Thread saves data to file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Why Chosen: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Improves performance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Prevents UI freezing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Simulates real-world concurrent systems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0784" y="0"/>
            <a:ext cx="1547216" cy="10287000"/>
            <a:chOff x="0" y="0"/>
            <a:chExt cx="523379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3479800"/>
            </a:xfrm>
            <a:custGeom>
              <a:avLst/>
              <a:gdLst/>
              <a:ahLst/>
              <a:cxnLst/>
              <a:rect r="r" b="b" t="t" l="l"/>
              <a:pathLst>
                <a:path h="3479800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306414" y="2159165"/>
            <a:ext cx="6694616" cy="5514828"/>
          </a:xfrm>
          <a:custGeom>
            <a:avLst/>
            <a:gdLst/>
            <a:ahLst/>
            <a:cxnLst/>
            <a:rect r="r" b="b" t="t" l="l"/>
            <a:pathLst>
              <a:path h="5514828" w="6694616">
                <a:moveTo>
                  <a:pt x="0" y="0"/>
                </a:moveTo>
                <a:lnTo>
                  <a:pt x="6694617" y="0"/>
                </a:lnTo>
                <a:lnTo>
                  <a:pt x="6694617" y="5514827"/>
                </a:lnTo>
                <a:lnTo>
                  <a:pt x="0" y="5514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82363" y="386715"/>
            <a:ext cx="2956620" cy="78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Live Demo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1382" y="2759263"/>
            <a:ext cx="9484693" cy="600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93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Show Working System: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-</a:t>
            </a: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Open GUI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-Add room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-View rooms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</a:p>
          <a:p>
            <a:pPr algn="l" marL="669293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Demonstrate Scenario: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-</a:t>
            </a: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Book a room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-Show booking success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-Show data saved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</a:p>
          <a:p>
            <a:pPr algn="l" marL="669293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Error Handling Case: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-</a:t>
            </a: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Try booking same room again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Show “Room already booked”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DE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695700"/>
            <a:ext cx="14745813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Thank you</a:t>
            </a:r>
          </a:p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for listening!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206520"/>
            <a:ext cx="591378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SOUMI CHAKRABORTY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40784" y="0"/>
            <a:ext cx="1547216" cy="10287000"/>
            <a:chOff x="0" y="0"/>
            <a:chExt cx="523379" cy="3479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3379" cy="3479800"/>
            </a:xfrm>
            <a:custGeom>
              <a:avLst/>
              <a:gdLst/>
              <a:ahLst/>
              <a:cxnLst/>
              <a:rect r="r" b="b" t="t" l="l"/>
              <a:pathLst>
                <a:path h="3479800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660992" y="9173500"/>
            <a:ext cx="1474581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12024052017058                CSE(IOT-CS-BT)          ROLL-56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DAHFJZviyo8</dc:identifier>
  <dcterms:modified xsi:type="dcterms:W3CDTF">2011-08-01T06:04:30Z</dcterms:modified>
  <cp:revision>1</cp:revision>
  <dc:title>Project Title: Hotel Booking System (Java Swing + OOP)</dc:title>
</cp:coreProperties>
</file>